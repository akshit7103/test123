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3DBD5-FA62-41E7-240F-E78F70918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B6337-0AE8-7668-8A56-3120B7785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E3C14-B5E4-BF9E-F16F-3BC13DBB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09A69C-8858-196E-6018-D09091EEA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E0E57-AE66-7193-4860-5A77ED62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16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171B-EA92-F061-308C-C2D51687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D816-94C0-5E23-3D08-865F927E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59BFC-B558-B45B-5A43-6BCCDBC4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0939F-D4E6-3B7B-E668-94EE5514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B58FD-0138-3CCF-6332-6C8E94E5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520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3408-B8B8-0435-39CA-4A1EADBE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D5E1E-ECDF-42F6-C0DE-B32B070E6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84037-FE81-A0BC-4936-469AB2869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DFD98-9E1C-8A76-9860-1741D8EF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EE4D-ABAB-B821-E1DB-114F616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9FA1-A645-00E0-8AEB-59C053EB1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A2F5-E88A-DA13-6E9F-1ECCE9DC2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0AB8C-508E-FA47-72D7-6D9201FD1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87D57-555B-3DDA-20C9-8E4469EC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C379F-4ECE-71DC-6E52-14C717A4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DEBCE-87D0-15A4-5297-9E1AC5FE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23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1B7F-F16A-F766-4CBE-3F258C16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BBE14-CCA8-DE23-E60F-E49F893C9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8C819-AC64-6055-8D93-432EFE5B7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11951-8167-639D-0DD0-61E49B287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5E53C-6D20-EB68-7168-721019462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E7653-85B8-AA7C-9A3F-89D9D022F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6EE856-C2B8-77C1-4E04-9F055641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CA475-3319-745F-1E42-11B78B617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45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8B75-E32D-0297-AC11-FAC9F3ED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3B9B5-6280-FF20-0F2F-C74734E8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38E80-4440-F326-E6C2-01FCFF77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C2FAC-C37C-CACA-EB68-371913BA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22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FAA7D-6EA2-CC4A-7D90-EF5CA775E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CB3024-DDC5-185F-56F9-4206A555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2347A-545E-2C73-9707-B34038F50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738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504E-C294-7CD2-E229-939443036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6F59-332C-2B7C-4F0E-FB9F3A1BB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FD6CC7-4523-0E96-14B5-63CD0D161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425A7-EA4B-3AFD-EE4B-1EAC1ACC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645E9-4050-CCD2-08E4-85E83C64F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67E24-74AA-DA04-2EB2-7CC32AE9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037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6AC7-81F0-3816-AC22-A47FAB6D3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2D36A6-C3E4-241D-EC52-08FA75E952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B4E6A2-24D2-5940-B289-F8FAC9A76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5DDB7-47D1-F3C1-BA76-3C8649A5D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8BC3E-4FF5-6E02-5C9F-F7DB3AEA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E1BE7-DFE9-AD65-454B-92F35C9BA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58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15FD-F353-008C-685C-19762FEB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54465-2E72-AA33-B74F-289A47FCD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A8BF5-115D-EF22-7410-0ABF577D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B8BA8-5EAF-7753-CD15-010D0A6F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7440-CA0A-5482-DBA1-2E1D20B1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60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79095C-0728-60A8-8225-3CEC40EC6A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FBE60-A570-7E16-3AB5-5B435B42F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504BF-3B23-1043-44AC-CE5B36E9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F32B2-EB79-AD6E-6B06-3B8BA2BB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BE710-EE63-3DE2-85BE-9A72C57D5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60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0761-9140-C2A2-9599-4B834446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CC0ADA-6669-C38C-288A-8D70F9B1A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27F37-4D97-F84C-9FA0-B0298962BD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 18">
            <a:extLst>
              <a:ext uri="{FF2B5EF4-FFF2-40B4-BE49-F238E27FC236}">
                <a16:creationId xmlns:a16="http://schemas.microsoft.com/office/drawing/2014/main" id="{16B62A15-1E8F-9966-3248-B7AD19321376}"/>
              </a:ext>
            </a:extLst>
          </p:cNvPr>
          <p:cNvSpPr/>
          <p:nvPr userDrawn="1"/>
        </p:nvSpPr>
        <p:spPr>
          <a:xfrm>
            <a:off x="9920755" y="4067994"/>
            <a:ext cx="4596852" cy="2790008"/>
          </a:xfrm>
          <a:custGeom>
            <a:avLst/>
            <a:gdLst>
              <a:gd name="connsiteX0" fmla="*/ 3456090 w 4978287"/>
              <a:gd name="connsiteY0" fmla="*/ 0 h 2884845"/>
              <a:gd name="connsiteX1" fmla="*/ 4978287 w 4978287"/>
              <a:gd name="connsiteY1" fmla="*/ 0 h 2884845"/>
              <a:gd name="connsiteX2" fmla="*/ 1522196 w 4978287"/>
              <a:gd name="connsiteY2" fmla="*/ 2884845 h 2884845"/>
              <a:gd name="connsiteX3" fmla="*/ 0 w 4978287"/>
              <a:gd name="connsiteY3" fmla="*/ 2884845 h 288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78287" h="2884845">
                <a:moveTo>
                  <a:pt x="3456090" y="0"/>
                </a:moveTo>
                <a:lnTo>
                  <a:pt x="4978287" y="0"/>
                </a:lnTo>
                <a:lnTo>
                  <a:pt x="1522196" y="2884845"/>
                </a:lnTo>
                <a:lnTo>
                  <a:pt x="0" y="2884845"/>
                </a:lnTo>
                <a:close/>
              </a:path>
            </a:pathLst>
          </a:custGeom>
          <a:gradFill>
            <a:gsLst>
              <a:gs pos="0">
                <a:srgbClr val="F79428">
                  <a:alpha val="5000"/>
                </a:srgbClr>
              </a:gs>
              <a:gs pos="100000">
                <a:srgbClr val="D74B29">
                  <a:alpha val="91000"/>
                </a:srgbClr>
              </a:gs>
            </a:gsLst>
            <a:lin ang="5400000" scaled="1"/>
          </a:gradFill>
          <a:ln>
            <a:noFill/>
          </a:ln>
          <a:effectLst>
            <a:outerShdw blurRad="101600" dist="1016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BF7A4D-CEC2-4680-B5DB-1DF02C0EC8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8436847" y="3680461"/>
            <a:ext cx="3755153" cy="31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9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3F8015-AD1A-EC54-5A81-641E2422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F634D-D02E-5882-0363-4E44776F2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F6EA2-5862-F99F-76E1-8743BCA48D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04D0E-6BA5-4FD6-AEE3-1907561B3E3A}" type="datetimeFigureOut">
              <a:rPr lang="en-IN" smtClean="0"/>
              <a:t>07-05-2026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855EF-A407-BFB1-ABBB-99A9714B7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25CB-1C6D-6181-E0EF-F3CCC1BE8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F144D1-B200-4BCD-95A3-5DEF16A986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57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eg"/><Relationship Id="rId7" Type="http://schemas.openxmlformats.org/officeDocument/2006/relationships/image" Target="../media/image7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11" Type="http://schemas.openxmlformats.org/officeDocument/2006/relationships/image" Target="../media/image10.emf"/><Relationship Id="rId5" Type="http://schemas.openxmlformats.org/officeDocument/2006/relationships/image" Target="../media/image5.jpeg"/><Relationship Id="rId10" Type="http://schemas.openxmlformats.org/officeDocument/2006/relationships/package" Target="../embeddings/Microsoft_Excel_Macro-Enabled_Worksheet.xlsm"/><Relationship Id="rId4" Type="http://schemas.openxmlformats.org/officeDocument/2006/relationships/image" Target="../media/image4.jpeg"/><Relationship Id="rId9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ECB6-C1A9-474D-97B3-3D9EA98A3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E34ABD-7DA8-CE1F-5647-5EB7FEA0F33B}"/>
              </a:ext>
            </a:extLst>
          </p:cNvPr>
          <p:cNvSpPr>
            <a:spLocks/>
          </p:cNvSpPr>
          <p:nvPr/>
        </p:nvSpPr>
        <p:spPr>
          <a:xfrm>
            <a:off x="-73600" y="3272116"/>
            <a:ext cx="8527055" cy="354192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E908A-B0B7-882E-3F72-C0EEF659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Surveillance Outcomes - Snapshot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CE8994-2603-3B10-5D17-FDC3DE7C229D}"/>
              </a:ext>
            </a:extLst>
          </p:cNvPr>
          <p:cNvGrpSpPr/>
          <p:nvPr/>
        </p:nvGrpSpPr>
        <p:grpSpPr>
          <a:xfrm>
            <a:off x="7400290" y="1575237"/>
            <a:ext cx="1873242" cy="1057173"/>
            <a:chOff x="8953045" y="1818044"/>
            <a:chExt cx="2411731" cy="1057173"/>
          </a:xfrm>
        </p:grpSpPr>
        <p:sp>
          <p:nvSpPr>
            <p:cNvPr id="4" name="Title 5">
              <a:extLst>
                <a:ext uri="{FF2B5EF4-FFF2-40B4-BE49-F238E27FC236}">
                  <a16:creationId xmlns:a16="http://schemas.microsoft.com/office/drawing/2014/main" id="{20B17963-24CA-6CBB-1A52-2F3232D188AD}"/>
                </a:ext>
              </a:extLst>
            </p:cNvPr>
            <p:cNvSpPr txBox="1">
              <a:spLocks/>
            </p:cNvSpPr>
            <p:nvPr/>
          </p:nvSpPr>
          <p:spPr>
            <a:xfrm>
              <a:off x="8953045" y="1818044"/>
              <a:ext cx="959672" cy="830997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marL="0" marR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marL="0" marR="0" lvl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0" b="0" spc="-150" dirty="0">
                  <a:latin typeface="Barlow Condensed Light"/>
                </a:rPr>
                <a:t>149</a:t>
              </a:r>
              <a:endParaRPr kumimoji="0" lang="en-US" sz="60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Barlow Condensed Light" pitchFamily="2" charset="77"/>
                <a:ea typeface="+mj-ea"/>
                <a:cs typeface="+mj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2AED2A8-163F-E768-FFA2-CF73D6D7A1FF}"/>
                </a:ext>
              </a:extLst>
            </p:cNvPr>
            <p:cNvSpPr txBox="1"/>
            <p:nvPr/>
          </p:nvSpPr>
          <p:spPr>
            <a:xfrm>
              <a:off x="8953045" y="2598218"/>
              <a:ext cx="2411731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Unauthorized instances identified across 745 total observations</a:t>
              </a:r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19A5B4CA-6F09-3A72-2056-8D231D207454}"/>
              </a:ext>
            </a:extLst>
          </p:cNvPr>
          <p:cNvSpPr txBox="1">
            <a:spLocks/>
          </p:cNvSpPr>
          <p:nvPr/>
        </p:nvSpPr>
        <p:spPr>
          <a:xfrm>
            <a:off x="7359372" y="2787087"/>
            <a:ext cx="609141" cy="83099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marL="0" marR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1" i="0" kern="1200">
                <a:solidFill>
                  <a:schemeClr val="accent1"/>
                </a:solidFill>
                <a:latin typeface="Barlow Condensed Light" pitchFamily="2" charset="77"/>
                <a:ea typeface="+mj-ea"/>
                <a:cs typeface="+mj-cs"/>
              </a:defRPr>
            </a:lvl1pPr>
          </a:lstStyle>
          <a:p>
            <a:pPr marL="0" marR="0" lvl="0" indent="0" algn="l" defTabSz="45718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Barlow Condensed Light" pitchFamily="2" charset="77"/>
                <a:ea typeface="+mj-ea"/>
                <a:cs typeface="+mj-cs"/>
              </a:rPr>
              <a:t>36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404E0-35D4-5247-AD6E-6A7619958E1F}"/>
              </a:ext>
            </a:extLst>
          </p:cNvPr>
          <p:cNvSpPr txBox="1"/>
          <p:nvPr/>
        </p:nvSpPr>
        <p:spPr>
          <a:xfrm>
            <a:off x="7400289" y="3566069"/>
            <a:ext cx="2109471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Unauthorized instances detected at Bangalore (312 total observations)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E8B9EE1-6D6E-9FE2-19D4-A10D92729295}"/>
              </a:ext>
            </a:extLst>
          </p:cNvPr>
          <p:cNvGrpSpPr/>
          <p:nvPr/>
        </p:nvGrpSpPr>
        <p:grpSpPr>
          <a:xfrm>
            <a:off x="7362461" y="5258432"/>
            <a:ext cx="1666949" cy="1011924"/>
            <a:chOff x="8953045" y="4185859"/>
            <a:chExt cx="1666949" cy="1011924"/>
          </a:xfrm>
        </p:grpSpPr>
        <p:sp>
          <p:nvSpPr>
            <p:cNvPr id="9" name="Title 5">
              <a:extLst>
                <a:ext uri="{FF2B5EF4-FFF2-40B4-BE49-F238E27FC236}">
                  <a16:creationId xmlns:a16="http://schemas.microsoft.com/office/drawing/2014/main" id="{974BBD8C-0484-1E8D-9560-A2936DEF986F}"/>
                </a:ext>
              </a:extLst>
            </p:cNvPr>
            <p:cNvSpPr txBox="1">
              <a:spLocks/>
            </p:cNvSpPr>
            <p:nvPr/>
          </p:nvSpPr>
          <p:spPr>
            <a:xfrm>
              <a:off x="8953045" y="4185859"/>
              <a:ext cx="545021" cy="830997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marL="0" marR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marL="0" marR="0" lvl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000" b="0" i="0" u="none" strike="noStrike" kern="1200" cap="none" spc="-150" normalizeH="0" baseline="0" noProof="0" dirty="0">
                  <a:ln>
                    <a:noFill/>
                  </a:ln>
                  <a:effectLst/>
                  <a:uLnTx/>
                  <a:uFillTx/>
                  <a:latin typeface="Barlow Condensed Light" pitchFamily="2" charset="77"/>
                  <a:ea typeface="+mj-ea"/>
                  <a:cs typeface="+mj-cs"/>
                </a:rPr>
                <a:t>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8054C01-27FA-8ABE-4BD8-A301084F6C2A}"/>
                </a:ext>
              </a:extLst>
            </p:cNvPr>
            <p:cNvSpPr txBox="1"/>
            <p:nvPr/>
          </p:nvSpPr>
          <p:spPr>
            <a:xfrm>
              <a:off x="8990873" y="4920784"/>
              <a:ext cx="1629121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Mobile phone usage violations </a:t>
              </a:r>
              <a:r>
                <a:rPr kumimoji="0" lang="fr-FR" sz="9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identified</a:t>
              </a:r>
              <a:endPara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1ED752-2DEC-2065-5831-25DBC4DD3088}"/>
              </a:ext>
            </a:extLst>
          </p:cNvPr>
          <p:cNvCxnSpPr>
            <a:cxnSpLocks/>
          </p:cNvCxnSpPr>
          <p:nvPr/>
        </p:nvCxnSpPr>
        <p:spPr>
          <a:xfrm>
            <a:off x="7381305" y="2692527"/>
            <a:ext cx="47687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5B70AC-20C8-AC9F-897D-36CE3A07AB06}"/>
              </a:ext>
            </a:extLst>
          </p:cNvPr>
          <p:cNvCxnSpPr>
            <a:cxnSpLocks/>
          </p:cNvCxnSpPr>
          <p:nvPr/>
        </p:nvCxnSpPr>
        <p:spPr>
          <a:xfrm>
            <a:off x="7381305" y="3929887"/>
            <a:ext cx="47687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15753D-D86A-9CBA-DE6C-60BE096FEA35}"/>
              </a:ext>
            </a:extLst>
          </p:cNvPr>
          <p:cNvCxnSpPr>
            <a:cxnSpLocks/>
          </p:cNvCxnSpPr>
          <p:nvPr/>
        </p:nvCxnSpPr>
        <p:spPr>
          <a:xfrm>
            <a:off x="7381305" y="5160897"/>
            <a:ext cx="47687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8C037B-CEBB-31F1-284B-672556EC900C}"/>
              </a:ext>
            </a:extLst>
          </p:cNvPr>
          <p:cNvCxnSpPr>
            <a:cxnSpLocks/>
          </p:cNvCxnSpPr>
          <p:nvPr/>
        </p:nvCxnSpPr>
        <p:spPr>
          <a:xfrm>
            <a:off x="7381305" y="6339840"/>
            <a:ext cx="476871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FC9F90-0D89-5111-7601-776926F1403D}"/>
              </a:ext>
            </a:extLst>
          </p:cNvPr>
          <p:cNvGrpSpPr/>
          <p:nvPr/>
        </p:nvGrpSpPr>
        <p:grpSpPr>
          <a:xfrm>
            <a:off x="7359372" y="3967143"/>
            <a:ext cx="2058847" cy="1089998"/>
            <a:chOff x="8915217" y="2982701"/>
            <a:chExt cx="2058847" cy="1089998"/>
          </a:xfrm>
        </p:grpSpPr>
        <p:sp>
          <p:nvSpPr>
            <p:cNvPr id="16" name="Title 5">
              <a:extLst>
                <a:ext uri="{FF2B5EF4-FFF2-40B4-BE49-F238E27FC236}">
                  <a16:creationId xmlns:a16="http://schemas.microsoft.com/office/drawing/2014/main" id="{7A7D6630-AE80-3702-01EB-1ABD3FAE93EA}"/>
                </a:ext>
              </a:extLst>
            </p:cNvPr>
            <p:cNvSpPr txBox="1">
              <a:spLocks/>
            </p:cNvSpPr>
            <p:nvPr/>
          </p:nvSpPr>
          <p:spPr>
            <a:xfrm>
              <a:off x="8915217" y="2982701"/>
              <a:ext cx="814325" cy="830997"/>
            </a:xfrm>
            <a:prstGeom prst="rect">
              <a:avLst/>
            </a:prstGeom>
          </p:spPr>
          <p:txBody>
            <a:bodyPr vert="horz" wrap="none" lIns="0" tIns="0" rIns="0" bIns="0" rtlCol="0" anchor="t" anchorCtr="0">
              <a:spAutoFit/>
            </a:bodyPr>
            <a:lstStyle>
              <a:lvl1pPr marL="0" marR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 b="1" i="0" kern="1200">
                  <a:solidFill>
                    <a:schemeClr val="accent1"/>
                  </a:solidFill>
                  <a:latin typeface="Barlow Condensed Light" pitchFamily="2" charset="77"/>
                  <a:ea typeface="+mj-ea"/>
                  <a:cs typeface="+mj-cs"/>
                </a:defRPr>
              </a:lvl1pPr>
            </a:lstStyle>
            <a:p>
              <a:pPr marL="0" marR="0" lvl="0" indent="0" algn="l" defTabSz="457189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000" b="0" spc="-150" dirty="0"/>
                <a:t>113</a:t>
              </a:r>
              <a:endParaRPr kumimoji="0" lang="en-US" sz="6000" b="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Barlow Condensed Light" pitchFamily="2" charset="77"/>
                <a:ea typeface="+mj-ea"/>
                <a:cs typeface="+mj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1312500-3D0A-DB6F-4CC2-1BC73CF1B9F7}"/>
                </a:ext>
              </a:extLst>
            </p:cNvPr>
            <p:cNvSpPr txBox="1"/>
            <p:nvPr/>
          </p:nvSpPr>
          <p:spPr>
            <a:xfrm>
              <a:off x="8956134" y="3795700"/>
              <a:ext cx="201793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4571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Unauthorized instances detected at Ahmedabad (433 total observations)</a:t>
              </a:r>
            </a:p>
          </p:txBody>
        </p:sp>
      </p:grpSp>
      <p:pic>
        <p:nvPicPr>
          <p:cNvPr id="18" name="Picture 17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03DB738A-DDBC-54DC-F267-EE327D4462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575384" y="1326282"/>
            <a:ext cx="2616616" cy="1321795"/>
          </a:xfrm>
          <a:prstGeom prst="snip1Rect">
            <a:avLst>
              <a:gd name="adj" fmla="val 24528"/>
            </a:avLst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414D9B1-EB70-8EBF-80DF-4D6721AC6F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575384" y="2760229"/>
            <a:ext cx="2616616" cy="1117590"/>
          </a:xfrm>
          <a:prstGeom prst="snip1Rect">
            <a:avLst>
              <a:gd name="adj" fmla="val 24528"/>
            </a:avLst>
          </a:prstGeom>
        </p:spPr>
      </p:pic>
      <p:pic>
        <p:nvPicPr>
          <p:cNvPr id="20" name="Picture 19" descr="Blue glass building">
            <a:extLst>
              <a:ext uri="{FF2B5EF4-FFF2-40B4-BE49-F238E27FC236}">
                <a16:creationId xmlns:a16="http://schemas.microsoft.com/office/drawing/2014/main" id="{636857B7-C99A-A747-8B90-274A43AE510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00"/>
          <a:stretch/>
        </p:blipFill>
        <p:spPr>
          <a:xfrm flipH="1">
            <a:off x="9575384" y="3992507"/>
            <a:ext cx="2616616" cy="1117590"/>
          </a:xfrm>
          <a:prstGeom prst="snip1Rect">
            <a:avLst>
              <a:gd name="adj" fmla="val 24528"/>
            </a:avLst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2EEBBE-4CAC-E730-BC26-ABD52E67A4B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575384" y="5222250"/>
            <a:ext cx="2616616" cy="1117590"/>
          </a:xfrm>
          <a:prstGeom prst="snip1Rect">
            <a:avLst>
              <a:gd name="adj" fmla="val 24528"/>
            </a:avLst>
          </a:prstGeom>
        </p:spPr>
      </p:pic>
      <p:pic>
        <p:nvPicPr>
          <p:cNvPr id="27" name="Picture 26" descr="0.jpg">
            <a:extLst>
              <a:ext uri="{FF2B5EF4-FFF2-40B4-BE49-F238E27FC236}">
                <a16:creationId xmlns:a16="http://schemas.microsoft.com/office/drawing/2014/main" id="{0B22B370-AAAB-4AE4-C2A6-F6D9467024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24" y="1662057"/>
            <a:ext cx="1828800" cy="1828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5F1D059-E877-0084-BA20-63013B5553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93" y="4357152"/>
            <a:ext cx="1828800" cy="17532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Rectangle: Rounded Corners 31">
            <a:extLst>
              <a:ext uri="{FF2B5EF4-FFF2-40B4-BE49-F238E27FC236}">
                <a16:creationId xmlns:a16="http://schemas.microsoft.com/office/drawing/2014/main" id="{61F0D07B-D4F9-478B-9311-FD17EF23577F}"/>
              </a:ext>
            </a:extLst>
          </p:cNvPr>
          <p:cNvSpPr/>
          <p:nvPr/>
        </p:nvSpPr>
        <p:spPr>
          <a:xfrm>
            <a:off x="7973466" y="59694"/>
            <a:ext cx="4156967" cy="310306"/>
          </a:xfrm>
          <a:prstGeom prst="roundRect">
            <a:avLst>
              <a:gd name="adj" fmla="val 50000"/>
            </a:avLst>
          </a:prstGeom>
          <a:ln>
            <a:noFill/>
            <a:headEnd type="none" w="med" len="med"/>
            <a:tailEnd type="none" w="med" len="med"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/>
              <a:t>Key Findings from Live Deployment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3E346E5-7C43-7732-B9E3-9B8B7FFB68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4665" y="1662057"/>
            <a:ext cx="1771357" cy="1828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4398948-5487-0D7F-88A1-5921479932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5549" y="4380012"/>
            <a:ext cx="1771356" cy="18127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ECA16C1-414F-99C0-7AEB-EEFA61F0FBB8}"/>
              </a:ext>
            </a:extLst>
          </p:cNvPr>
          <p:cNvSpPr txBox="1"/>
          <p:nvPr/>
        </p:nvSpPr>
        <p:spPr>
          <a:xfrm>
            <a:off x="-230637" y="3699676"/>
            <a:ext cx="3789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✅ </a:t>
            </a:r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Authorized – </a:t>
            </a:r>
          </a:p>
          <a:p>
            <a:pPr algn="ctr"/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Correctly Identified</a:t>
            </a:r>
            <a:endParaRPr lang="en-IN" sz="1600" dirty="0">
              <a:solidFill>
                <a:schemeClr val="accent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5510ACC-F0DA-83C2-23F1-08B4A9E79BF4}"/>
              </a:ext>
            </a:extLst>
          </p:cNvPr>
          <p:cNvSpPr txBox="1"/>
          <p:nvPr/>
        </p:nvSpPr>
        <p:spPr>
          <a:xfrm>
            <a:off x="517035" y="1015726"/>
            <a:ext cx="2502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📷 </a:t>
            </a:r>
            <a:r>
              <a:rPr lang="en-US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Reference Image </a:t>
            </a:r>
          </a:p>
          <a:p>
            <a:pPr algn="ctr"/>
            <a:r>
              <a:rPr lang="en-US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(Training Input)</a:t>
            </a:r>
            <a:endParaRPr lang="en-IN" sz="1600" dirty="0">
              <a:solidFill>
                <a:schemeClr val="accent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CB850A-7ADB-75CA-E703-0B97A7E02214}"/>
              </a:ext>
            </a:extLst>
          </p:cNvPr>
          <p:cNvSpPr txBox="1"/>
          <p:nvPr/>
        </p:nvSpPr>
        <p:spPr>
          <a:xfrm>
            <a:off x="2894527" y="1049836"/>
            <a:ext cx="2160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❌ </a:t>
            </a:r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Unauthorized – </a:t>
            </a:r>
          </a:p>
          <a:p>
            <a:pPr algn="ctr"/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Flagged</a:t>
            </a:r>
            <a:endParaRPr lang="en-IN" sz="1600" dirty="0">
              <a:solidFill>
                <a:schemeClr val="accent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13E05B-2448-6392-C0E9-375BA3B98CD6}"/>
              </a:ext>
            </a:extLst>
          </p:cNvPr>
          <p:cNvSpPr txBox="1"/>
          <p:nvPr/>
        </p:nvSpPr>
        <p:spPr>
          <a:xfrm>
            <a:off x="2741853" y="3683498"/>
            <a:ext cx="2376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⚠️ </a:t>
            </a:r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Mobile Usage – </a:t>
            </a:r>
          </a:p>
          <a:p>
            <a:pPr algn="ctr"/>
            <a:r>
              <a:rPr lang="en-IN" sz="1600" b="1" dirty="0">
                <a:solidFill>
                  <a:schemeClr val="accent1"/>
                </a:solidFill>
                <a:latin typeface="Barlow Condensed Light" panose="00000406000000000000" pitchFamily="2" charset="0"/>
              </a:rPr>
              <a:t>Compliance Breach</a:t>
            </a:r>
            <a:endParaRPr lang="en-IN" sz="1600" dirty="0">
              <a:solidFill>
                <a:schemeClr val="accent1"/>
              </a:solidFill>
              <a:latin typeface="Barlow Condensed Light" panose="00000406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103466-D840-DAB5-FC20-2346D0E89C21}"/>
              </a:ext>
            </a:extLst>
          </p:cNvPr>
          <p:cNvSpPr txBox="1"/>
          <p:nvPr/>
        </p:nvSpPr>
        <p:spPr>
          <a:xfrm>
            <a:off x="5148875" y="1746041"/>
            <a:ext cx="1877611" cy="452431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“Despite infrastructure limitations, the solution effectively identified unauthorized entries and instances of mobile phone usage, demonstrating strong detection capability in a live environment.”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AA2B96-19C5-1AB0-14DA-7716E40F2670}"/>
              </a:ext>
            </a:extLst>
          </p:cNvPr>
          <p:cNvSpPr txBox="1"/>
          <p:nvPr/>
        </p:nvSpPr>
        <p:spPr>
          <a:xfrm>
            <a:off x="80543" y="6422763"/>
            <a:ext cx="99497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404040"/>
                </a:solidFill>
                <a:latin typeface="Calibri" panose="020F0502020204030204" pitchFamily="34" charset="0"/>
              </a:rPr>
              <a:t>Note: For detailed event-level reference, please refer to the embedded spreadsheet (security_logs_combined.csv).</a:t>
            </a:r>
            <a:endParaRPr lang="en-IN" sz="1050" i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EBBBE1A3-053C-CBBE-F146-F7DCEE274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5000" y="6286500"/>
          <a:ext cx="64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10" imgW="914400" imgH="806657" progId="Excel.SheetMacroEnabled.12">
                  <p:embed/>
                </p:oleObj>
              </mc:Choice>
              <mc:Fallback>
                <p:oleObj name="Macro-Enabled Worksheet" showAsIcon="1" r:id="rId10" imgW="914400" imgH="806657" progId="Excel.SheetMacroEnabled.12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EBBBE1A3-053C-CBBE-F146-F7DCEE2742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25000" y="6286500"/>
                        <a:ext cx="648000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659334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Barlow Condensed Light</vt:lpstr>
      <vt:lpstr>Calibri</vt:lpstr>
      <vt:lpstr>Office Theme</vt:lpstr>
      <vt:lpstr>Macro-Enabled Worksheet</vt:lpstr>
      <vt:lpstr>AI Surveillance Outcomes - Snapshot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 Mahajan (IND)</dc:creator>
  <cp:lastModifiedBy>Akshit Mahajan (IND)</cp:lastModifiedBy>
  <cp:revision>1</cp:revision>
  <dcterms:created xsi:type="dcterms:W3CDTF">2026-05-07T08:54:28Z</dcterms:created>
  <dcterms:modified xsi:type="dcterms:W3CDTF">2026-05-07T08:54:51Z</dcterms:modified>
</cp:coreProperties>
</file>