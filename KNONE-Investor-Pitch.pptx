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71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1" y="28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(₹ Lakh)</c:v>
                </c:pt>
              </c:strCache>
            </c:strRef>
          </c:tx>
          <c:spPr>
            <a:solidFill>
              <a:srgbClr val="1A6B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0A0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1200</c:v>
                </c:pt>
                <c:pt idx="2">
                  <c:v>4800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12-4430-975A-C4189946C5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0A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B63-48A5-98BB-4E68B42F84E5}"/>
              </c:ext>
            </c:extLst>
          </c:dPt>
          <c:dPt>
            <c:idx val="1"/>
            <c:bubble3D val="0"/>
            <c:spPr>
              <a:solidFill>
                <a:srgbClr val="C843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63-48A5-98BB-4E68B42F84E5}"/>
              </c:ext>
            </c:extLst>
          </c:dPt>
          <c:dPt>
            <c:idx val="2"/>
            <c:bubble3D val="0"/>
            <c:spPr>
              <a:solidFill>
                <a:srgbClr val="1A4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63-48A5-98BB-4E68B42F84E5}"/>
              </c:ext>
            </c:extLst>
          </c:dPt>
          <c:dPt>
            <c:idx val="3"/>
            <c:bubble3D val="0"/>
            <c:spPr>
              <a:solidFill>
                <a:srgbClr val="1A6B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B63-48A5-98BB-4E68B42F84E5}"/>
              </c:ext>
            </c:extLst>
          </c:dPt>
          <c:dPt>
            <c:idx val="4"/>
            <c:bubble3D val="0"/>
            <c:spPr>
              <a:solidFill>
                <a:srgbClr val="8A8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B63-48A5-98BB-4E68B42F84E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B63-48A5-98BB-4E68B42F84E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B63-48A5-98BB-4E68B42F84E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B63-48A5-98BB-4E68B42F84E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B63-48A5-98BB-4E68B42F84E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B63-48A5-98BB-4E68B42F84E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Engineering (4 hires)</c:v>
                </c:pt>
                <c:pt idx="1">
                  <c:v>Legal &amp; compliance</c:v>
                </c:pt>
                <c:pt idx="2">
                  <c:v>Infrastructure &amp; security</c:v>
                </c:pt>
                <c:pt idx="3">
                  <c:v>GTM &amp; design</c:v>
                </c:pt>
                <c:pt idx="4">
                  <c:v>Operations &amp; misc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18</c:v>
                </c:pt>
                <c:pt idx="2">
                  <c:v>12</c:v>
                </c:pt>
                <c:pt idx="3">
                  <c:v>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B63-48A5-98BB-4E68B42F84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5F3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2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149B6-8AF3-47B4-39CB-85E98C477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62500-935E-9621-922A-F24B38EEA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B4A1C-8DE3-06F6-5DAC-D8A97353A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DC5B8-146F-FB2A-AA7F-6B5FC56B7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5252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-457200"/>
            <a:ext cx="3657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15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" cy="2011680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KN</a:t>
            </a: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Employment Risk Bureau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0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bureau built for professional history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5029200" cy="0"/>
          </a:xfrm>
          <a:prstGeom prst="line">
            <a:avLst/>
          </a:prstGeom>
          <a:noFill/>
          <a:ln w="635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investor presentation  ·  May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4389120"/>
            <a:ext cx="1920240" cy="594360"/>
          </a:xfrm>
          <a:prstGeom prst="rect">
            <a:avLst/>
          </a:prstGeom>
          <a:solidFill>
            <a:srgbClr val="11111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" y="4416552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" y="466344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BGV market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949440" y="4366260"/>
            <a:ext cx="1920240" cy="594360"/>
          </a:xfrm>
          <a:prstGeom prst="rect">
            <a:avLst/>
          </a:prstGeom>
          <a:solidFill>
            <a:srgbClr val="11111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r>
              <a:rPr lang="en-GB" dirty="0"/>
              <a:t>   </a:t>
            </a:r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7059168" y="4393692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59168" y="46405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models in India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00600" y="4389120"/>
            <a:ext cx="1920240" cy="594360"/>
          </a:xfrm>
          <a:prstGeom prst="rect">
            <a:avLst/>
          </a:prstGeom>
          <a:solidFill>
            <a:srgbClr val="111118"/>
          </a:solidFill>
          <a:ln w="635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10328" y="4416552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₹150Cr+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466344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fraud losses p.a.</a:t>
            </a:r>
            <a:endParaRPr lang="en-US" sz="8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14D63D-6A13-8EAA-6685-AECC5491AE7B}"/>
              </a:ext>
            </a:extLst>
          </p:cNvPr>
          <p:cNvGrpSpPr/>
          <p:nvPr/>
        </p:nvGrpSpPr>
        <p:grpSpPr>
          <a:xfrm>
            <a:off x="2660904" y="4393692"/>
            <a:ext cx="1920240" cy="594360"/>
            <a:chOff x="6949440" y="4389120"/>
            <a:chExt cx="1920240" cy="594360"/>
          </a:xfrm>
        </p:grpSpPr>
        <p:sp>
          <p:nvSpPr>
            <p:cNvPr id="18" name="Shape 16"/>
            <p:cNvSpPr/>
            <p:nvPr/>
          </p:nvSpPr>
          <p:spPr>
            <a:xfrm>
              <a:off x="6949440" y="4389120"/>
              <a:ext cx="1920240" cy="594360"/>
            </a:xfrm>
            <a:prstGeom prst="rect">
              <a:avLst/>
            </a:prstGeom>
            <a:solidFill>
              <a:srgbClr val="111118"/>
            </a:solidFill>
            <a:ln w="6350">
              <a:solidFill>
                <a:srgbClr val="2A2A3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7"/>
            <p:cNvSpPr/>
            <p:nvPr/>
          </p:nvSpPr>
          <p:spPr>
            <a:xfrm>
              <a:off x="7059168" y="4416552"/>
              <a:ext cx="1700784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47M+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059168" y="4663440"/>
              <a:ext cx="170078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666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Indian employers</a:t>
              </a:r>
              <a:endParaRPr lang="en-US" sz="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employer is flying blind at the point of hire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checks verify facts. Nobody shares what actually went wrong.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920240" cy="45720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Misconduct stays secret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07208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dismissed for data theft at one employer walks straight into the next with a clean reference. There is no mechanism to share adverse history.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68880" y="1737360"/>
            <a:ext cx="1920240" cy="45720"/>
          </a:xfrm>
          <a:prstGeom prst="rect">
            <a:avLst/>
          </a:prstGeom>
          <a:solidFill>
            <a:srgbClr val="D4870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24231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≠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807208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AuthBridge, IDfy, and SpringVerify confirm stated facts. They cannot tell you what a candidate did — or didn't do — at a previous employer.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73736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0" y="1737360"/>
            <a:ext cx="1920240" cy="45720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09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9160" y="24231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gap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807208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and RBI mandate fit-and-proper checks for 400+ regulated entities. No standardised, auditable mechanism exists to fulfil this requirement.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737360"/>
            <a:ext cx="1920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675120" y="1737360"/>
            <a:ext cx="1920240" cy="45720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122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₹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12280" y="24231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accelerating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2807208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fraud hotspots expanded from 6 to 10+ Indian cities in 2025. ₹150Cr+ in reported losses. DPDP Act fines of ₹250Cr now in force.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2DDD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"AuthBridge tells you if a candidate's degree is real.  KNONE tells you if they're a risk."</a:t>
            </a:r>
            <a:endParaRPr lang="en-US" sz="10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26D666A7-CC5E-0A49-C546-0CE9364CF411}"/>
              </a:ext>
            </a:extLst>
          </p:cNvPr>
          <p:cNvSpPr/>
          <p:nvPr/>
        </p:nvSpPr>
        <p:spPr>
          <a:xfrm>
            <a:off x="338523" y="4937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$6.5B global market with no bureau model — anywhere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The 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The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employment risk bureau — CIBIL for professional conduct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KNONE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1847088"/>
            <a:ext cx="292608" cy="292608"/>
          </a:xfrm>
          <a:prstGeom prst="ellipse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0352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847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submits adverse signal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20665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Misconduct, fraud, ghost quit, data theft — hashed to a pseudonymous PID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" y="2157984"/>
            <a:ext cx="0" cy="457200"/>
          </a:xfrm>
          <a:prstGeom prst="line">
            <a:avLst/>
          </a:prstGeom>
          <a:noFill/>
          <a:ln w="1270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" y="2624328"/>
            <a:ext cx="292608" cy="292608"/>
          </a:xfrm>
          <a:prstGeom prst="ellipse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0352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6243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computes KNONE Score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8437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0–1000 score from 7 domain signals with time decay and provenance weighting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" y="2935224"/>
            <a:ext cx="0" cy="457200"/>
          </a:xfrm>
          <a:prstGeom prst="line">
            <a:avLst/>
          </a:prstGeom>
          <a:noFill/>
          <a:ln w="1270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30352" y="3401568"/>
            <a:ext cx="292608" cy="292608"/>
          </a:xfrm>
          <a:prstGeom prst="ellipse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0352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401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employer gets the report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6210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domain breakdown + persona archetype + pattern flags in seconds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" y="3712464"/>
            <a:ext cx="0" cy="457200"/>
          </a:xfrm>
          <a:prstGeom prst="line">
            <a:avLst/>
          </a:prstGeom>
          <a:noFill/>
          <a:ln w="1270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30352" y="4178808"/>
            <a:ext cx="292608" cy="292608"/>
          </a:xfrm>
          <a:prstGeom prst="ellipse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3035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41788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can view and contest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43982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of reply, consent controls, self-initiated share to employers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325880"/>
            <a:ext cx="39776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834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moat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19472" y="1883664"/>
            <a:ext cx="384048" cy="384048"/>
          </a:xfrm>
          <a:prstGeom prst="ellipse">
            <a:avLst/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19472" y="186537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1847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pseudonymous PID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20665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hashed — no PII in signal database. Same person always generates the same PID across all employers.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19472" y="2688336"/>
            <a:ext cx="384048" cy="384048"/>
          </a:xfrm>
          <a:prstGeom prst="ellipse">
            <a:avLst/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19472" y="267004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94960" y="2651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contribution model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28712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only access data proportional to what they contribute. No free riders. Solves the cold-start problem.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19472" y="3493008"/>
            <a:ext cx="384048" cy="384048"/>
          </a:xfrm>
          <a:prstGeom prst="ellipse">
            <a:avLst/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19472" y="347472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94960" y="3456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CIBIL-style scoring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36758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0–1000 score, 7 domain subscores, time decay, provenance weighting, persona archetypes.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19472" y="4297680"/>
            <a:ext cx="384048" cy="384048"/>
          </a:xfrm>
          <a:prstGeom prst="ellipse">
            <a:avLst/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919472" y="427939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⚖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94960" y="42611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of reply built in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94960" y="44805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can be contested. Asserted vs verified clearly marked. Ethical by design.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verifies facts. KNONE is the only one that surfaces risk.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11680" y="1261872"/>
            <a:ext cx="7406640" cy="475488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084832" y="1261872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Cross-employer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signals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19272" y="1261872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(0–1000)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53712" y="1261872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88152" y="1261872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Post-hire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22592" y="1261872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57032" y="1261872"/>
            <a:ext cx="1124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9052560" cy="475488"/>
          </a:xfrm>
          <a:prstGeom prst="rect">
            <a:avLst/>
          </a:prstGeom>
          <a:solidFill>
            <a:srgbClr val="D9EDE9"/>
          </a:solidFill>
          <a:ln w="381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54864" cy="475488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17922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19933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product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11680" y="17373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46120" y="17373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17373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15000" y="17373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17373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173736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212848"/>
            <a:ext cx="9052560" cy="475488"/>
          </a:xfrm>
          <a:prstGeom prst="rect">
            <a:avLst/>
          </a:prstGeom>
          <a:solidFill>
            <a:srgbClr val="FAFAF8"/>
          </a:solidFill>
          <a:ln w="381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22677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AuthBridge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468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BGV leader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11680" y="22128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46120" y="22128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22128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15000" y="22128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22128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83880" y="22128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2688336"/>
            <a:ext cx="9052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2920" y="27432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2944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stack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011680" y="2688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46120" y="2688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480560" y="2688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715000" y="2688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49440" y="2688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83880" y="2688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3163824"/>
            <a:ext cx="9052560" cy="475488"/>
          </a:xfrm>
          <a:prstGeom prst="rect">
            <a:avLst/>
          </a:prstGeom>
          <a:solidFill>
            <a:srgbClr val="FAFAF8"/>
          </a:solidFill>
          <a:ln w="381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2920" y="32186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Advantage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34198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BGV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011680" y="316382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246120" y="316382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480560" y="316382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715000" y="316382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49440" y="316382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183880" y="316382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65760" y="3639312"/>
            <a:ext cx="9052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02920" y="36941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" y="38953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API-first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011680" y="36393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246120" y="36393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480560" y="36393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715000" y="36393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949440" y="36393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183880" y="36393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65760" y="4114800"/>
            <a:ext cx="9052560" cy="475488"/>
          </a:xfrm>
          <a:prstGeom prst="rect">
            <a:avLst/>
          </a:prstGeom>
          <a:solidFill>
            <a:srgbClr val="FAFAF8"/>
          </a:solidFill>
          <a:ln w="381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02920" y="41696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CIFAS (UK)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02920" y="4370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bureau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011680" y="41148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3246120" y="41148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4480560" y="41148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715000" y="41148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6949440" y="41148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183880" y="41148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365760" y="4626864"/>
            <a:ext cx="8412480" cy="347472"/>
          </a:xfrm>
          <a:prstGeom prst="rect">
            <a:avLst/>
          </a:prstGeom>
          <a:solidFill>
            <a:srgbClr val="F2DDD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548640" y="462686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space is real: no one in India has built a shared adverse signal bureau with a scoring model. This product does not exist.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C0275-0853-98F6-5383-542A136BE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E26DD8-33C3-05F9-F07D-EF0A1F55F92D}"/>
              </a:ext>
            </a:extLst>
          </p:cNvPr>
          <p:cNvSpPr/>
          <p:nvPr/>
        </p:nvSpPr>
        <p:spPr>
          <a:xfrm>
            <a:off x="6217920" y="-457200"/>
            <a:ext cx="36576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0" b="1" i="0" u="none" strike="noStrike" kern="1200" cap="none" spc="0" normalizeH="0" baseline="0" noProof="0" dirty="0">
                <a:ln>
                  <a:noFill/>
                </a:ln>
                <a:solidFill>
                  <a:srgbClr val="1515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kumimoji="0" lang="en-US" sz="2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7B266A8-1ABF-0FFA-0B25-CC173EDC8BDA}"/>
              </a:ext>
            </a:extLst>
          </p:cNvPr>
          <p:cNvSpPr/>
          <p:nvPr/>
        </p:nvSpPr>
        <p:spPr>
          <a:xfrm>
            <a:off x="502920" y="1371600"/>
            <a:ext cx="54864" cy="2011680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E334C7-22B5-C012-0F8E-EA64B7A9EE0E}"/>
              </a:ext>
            </a:extLst>
          </p:cNvPr>
          <p:cNvSpPr/>
          <p:nvPr/>
        </p:nvSpPr>
        <p:spPr>
          <a:xfrm>
            <a:off x="685800" y="1325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 KN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D392C8-D9C2-F935-8DD6-123C3FB68896}"/>
              </a:ext>
            </a:extLst>
          </p:cNvPr>
          <p:cNvSpPr/>
          <p:nvPr/>
        </p:nvSpPr>
        <p:spPr>
          <a:xfrm>
            <a:off x="685800" y="2057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India’s ONLY Employment Risk Bureau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6103A35-C9FD-BB2A-4601-B3BA739D9BF4}"/>
              </a:ext>
            </a:extLst>
          </p:cNvPr>
          <p:cNvSpPr/>
          <p:nvPr/>
        </p:nvSpPr>
        <p:spPr>
          <a:xfrm>
            <a:off x="685800" y="3017520"/>
            <a:ext cx="5029200" cy="0"/>
          </a:xfrm>
          <a:prstGeom prst="line">
            <a:avLst/>
          </a:prstGeom>
          <a:noFill/>
          <a:ln w="6350">
            <a:solidFill>
              <a:srgbClr val="2A2A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A564215-66F0-60C3-B535-56E7D69A90A0}"/>
              </a:ext>
            </a:extLst>
          </p:cNvPr>
          <p:cNvSpPr/>
          <p:nvPr/>
        </p:nvSpPr>
        <p:spPr>
          <a:xfrm>
            <a:off x="685800" y="3200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4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investor presentation  ·  May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1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$6.5B global market with no bureau model — anywhere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51760" cy="54864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employment screening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$6.5B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" y="2523744"/>
            <a:ext cx="2377440" cy="64008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2523744"/>
            <a:ext cx="2377440" cy="64008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$19.6B by 2033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46120" y="1325880"/>
            <a:ext cx="2651760" cy="54864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383280" y="1463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0" y="1764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BGV + bureau market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₹3,500 Cr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383280" y="2523744"/>
            <a:ext cx="2377440" cy="64008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383280" y="2523744"/>
            <a:ext cx="1426464" cy="64008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8328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15–18% CAGR, DPDP-driven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325880"/>
            <a:ext cx="2651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26480" y="1325880"/>
            <a:ext cx="2651760" cy="54864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63640" y="1463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63640" y="1764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5,000 employers · Year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 Cr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263640" y="2523744"/>
            <a:ext cx="2377440" cy="64008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263640" y="2523744"/>
            <a:ext cx="665683" cy="64008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6364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+ staffing + gig initial focus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84124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66928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converging growth drivers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4114800"/>
            <a:ext cx="54864" cy="685800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13232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4352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₹250Cr fines now in force — every employer needs an auditable pre-employment check process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33472" y="4114800"/>
            <a:ext cx="54864" cy="685800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79776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SEBI/RBI mandates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79776" y="4352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Fit-and-proper checks required for 400+ regulated entities with no standard mechanism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0016" y="4114800"/>
            <a:ext cx="54864" cy="685800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46320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economy explosion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4352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workers onboarded monthly by Swiggy, Zomato, Urban Company — no BGV at scale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66560" y="4114800"/>
            <a:ext cx="54864" cy="685800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912864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acceleration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12864" y="43525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fraud hotspots up from 6 to 10+ cities in 12 months — ₹150Cr+ in losses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KNONE Score — how it works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9260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KNONE 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94360" y="2450592"/>
            <a:ext cx="822960" cy="118872"/>
          </a:xfrm>
          <a:prstGeom prst="rect">
            <a:avLst/>
          </a:prstGeom>
          <a:solidFill>
            <a:srgbClr val="E24B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417320" y="2450592"/>
            <a:ext cx="548640" cy="118872"/>
          </a:xfrm>
          <a:prstGeom prst="rect">
            <a:avLst/>
          </a:prstGeom>
          <a:solidFill>
            <a:srgbClr val="EF9F2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65960" y="2450592"/>
            <a:ext cx="411480" cy="118872"/>
          </a:xfrm>
          <a:prstGeom prst="rect">
            <a:avLst/>
          </a:prstGeom>
          <a:solidFill>
            <a:srgbClr val="378AD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377440" y="2450592"/>
            <a:ext cx="411480" cy="118872"/>
          </a:xfrm>
          <a:prstGeom prst="rect">
            <a:avLst/>
          </a:prstGeom>
          <a:solidFill>
            <a:srgbClr val="1D9E7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88920" y="2450592"/>
            <a:ext cx="548640" cy="118872"/>
          </a:xfrm>
          <a:prstGeom prst="rect">
            <a:avLst/>
          </a:prstGeom>
          <a:solidFill>
            <a:srgbClr val="9FE1C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92378" y="2359152"/>
            <a:ext cx="0" cy="301752"/>
          </a:xfrm>
          <a:prstGeom prst="line">
            <a:avLst/>
          </a:prstGeom>
          <a:noFill/>
          <a:ln w="19050">
            <a:solidFill>
              <a:srgbClr val="0A0A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2624328"/>
            <a:ext cx="2560320" cy="237744"/>
          </a:xfrm>
          <a:prstGeom prst="rect">
            <a:avLst/>
          </a:prstGeom>
          <a:solidFill>
            <a:srgbClr val="FCEBE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26243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 band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08760" y="3026664"/>
            <a:ext cx="1371600" cy="73152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508760" y="3026664"/>
            <a:ext cx="1220724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926080" y="2971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08760" y="3300984"/>
            <a:ext cx="1371600" cy="73152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508760" y="3300984"/>
            <a:ext cx="1110996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926080" y="32461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08760" y="3575304"/>
            <a:ext cx="1371600" cy="73152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508760" y="3575304"/>
            <a:ext cx="987552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926080" y="3520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794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08760" y="3849624"/>
            <a:ext cx="1371600" cy="73152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508760" y="3849624"/>
            <a:ext cx="795528" cy="73152"/>
          </a:xfrm>
          <a:prstGeom prst="rect">
            <a:avLst/>
          </a:prstGeom>
          <a:solidFill>
            <a:srgbClr val="D4870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926080" y="37947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069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08760" y="4123944"/>
            <a:ext cx="1371600" cy="73152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508760" y="4123944"/>
            <a:ext cx="836676" cy="73152"/>
          </a:xfrm>
          <a:prstGeom prst="rect">
            <a:avLst/>
          </a:prstGeom>
          <a:solidFill>
            <a:srgbClr val="D4870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926080" y="40690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343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08760" y="4398264"/>
            <a:ext cx="1371600" cy="73152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508760" y="4398264"/>
            <a:ext cx="603504" cy="73152"/>
          </a:xfrm>
          <a:prstGeom prst="rect">
            <a:avLst/>
          </a:prstGeom>
          <a:solidFill>
            <a:srgbClr val="D4870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926080" y="4343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4617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508760" y="4672584"/>
            <a:ext cx="1371600" cy="73152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508760" y="4672584"/>
            <a:ext cx="521208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926080" y="46177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0" y="1261872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657600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universe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11880" y="1865376"/>
            <a:ext cx="54864" cy="292608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767328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&amp; regulatory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767328" y="2039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Conviction, debarment, struck off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11880" y="2313432"/>
            <a:ext cx="54864" cy="292608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767328" y="22768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767328" y="2487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fabrication, data exfiltration, NDA breach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11880" y="2761488"/>
            <a:ext cx="54864" cy="292608"/>
          </a:xfrm>
          <a:prstGeom prst="rect">
            <a:avLst/>
          </a:prstGeom>
          <a:solidFill>
            <a:srgbClr val="D4870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767328" y="2724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767328" y="2935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Bankruptcy, IVA, CCJ, expense fraud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11880" y="3209544"/>
            <a:ext cx="54864" cy="292608"/>
          </a:xfrm>
          <a:prstGeom prst="rect">
            <a:avLst/>
          </a:prstGeom>
          <a:solidFill>
            <a:srgbClr val="D4870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767328" y="31729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767328" y="3383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Harassment, bullying, no-shows, PIP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611880" y="3657600"/>
            <a:ext cx="54864" cy="292608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767328" y="36210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behaviour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767328" y="38313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quit, no handover, soliciting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11880" y="4105656"/>
            <a:ext cx="54864" cy="292608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767328" y="4069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767328" y="4279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defamation, CV discrepancy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611880" y="4553712"/>
            <a:ext cx="54864" cy="292608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767328" y="4517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767328" y="47274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Gambling, financial stress (consent required)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309360" y="1261872"/>
            <a:ext cx="2468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49224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archetypes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46520" y="1792224"/>
            <a:ext cx="36576" cy="128016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565392" y="1755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Fabricator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565392" y="18745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fraud + 0 references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446520" y="2029968"/>
            <a:ext cx="36576" cy="128016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565392" y="1993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Ghost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565392" y="211226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ghost quits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446520" y="2267712"/>
            <a:ext cx="36576" cy="128016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565392" y="22311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Escalator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565392" y="235000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Worsening severity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446520" y="2505456"/>
            <a:ext cx="36576" cy="128016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565392" y="2468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Drifter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565392" y="25877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job-hop velocity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446520" y="2743200"/>
            <a:ext cx="36576" cy="128016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565392" y="27066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Liability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565392" y="282549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domain risk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309360" y="3090672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6492240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 portals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400800" y="3584448"/>
            <a:ext cx="182880" cy="182880"/>
          </a:xfrm>
          <a:prstGeom prst="ellipse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675120" y="35661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6675120" y="37307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· Submit signals · Monitor workforce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400800" y="3904488"/>
            <a:ext cx="182880" cy="182880"/>
          </a:xfrm>
          <a:prstGeom prst="ellipse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6675120" y="38862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6675120" y="405079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record · Contest signals · Share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400800" y="4224528"/>
            <a:ext cx="182880" cy="182880"/>
          </a:xfrm>
          <a:prstGeom prst="ellipse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6675120" y="42062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6675120" y="437083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· Disputes · Scoring engine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400800" y="4544568"/>
            <a:ext cx="182880" cy="182880"/>
          </a:xfrm>
          <a:prstGeom prst="ellipse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6675120" y="45262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6675120" y="469087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stats · Compliance data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streams, one network effect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199339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access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1719072" cy="0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queries/month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25786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 only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7980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clear/flag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" y="30175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signals/yr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1298448"/>
            <a:ext cx="199339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651760" y="1417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1691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₹4,999/mo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51760" y="20482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queries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51760" y="2286000"/>
            <a:ext cx="1719072" cy="0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651760" y="23591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62072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domain scores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62072" y="25786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flags + archetype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51760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62072" y="27980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history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51760" y="3017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62072" y="30175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provenance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760" y="3236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62072" y="32369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₹69 overage/query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1298448"/>
            <a:ext cx="199339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8431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663440" y="1298448"/>
            <a:ext cx="1993392" cy="54864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00600" y="1417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1691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₹14,999/mo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800600" y="20482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 queries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2286000"/>
            <a:ext cx="1719072" cy="0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00600" y="23591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10912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+ bank scores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10912" y="25786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Post-hire monitoring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10912" y="27980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API integration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0600" y="3017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10912" y="30175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CSV upload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0600" y="3236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10912" y="32369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 overage/query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12280" y="1298448"/>
            <a:ext cx="199339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949440" y="1417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49440" y="1691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949440" y="20482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· SLA 99.9%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949440" y="2286000"/>
            <a:ext cx="1719072" cy="0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949440" y="23591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59752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data region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49440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59752" y="25786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49440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159752" y="27980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audit export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49440" y="3017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159752" y="30175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49440" y="32369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159752" y="32369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deploy option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4114800"/>
            <a:ext cx="8412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48640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 streams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48640" y="4535424"/>
            <a:ext cx="45720" cy="420624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76656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carte reports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76656" y="4718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₹199–₹1,999 per pull. No subscription required. Targets SMBs and staffing agencies.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633472" y="4535424"/>
            <a:ext cx="45720" cy="420624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276148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self-check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761488" y="4718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₹299 one-time / ₹499 annual. Person views own record. Builds trust + bottom-up growth.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718304" y="4535424"/>
            <a:ext cx="45720" cy="420624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4846320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Post-hire monitoring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846320" y="4718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 per employee/month. Persistent, low-churn. Alerts on new adverse signals post-hire.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803136" y="4535424"/>
            <a:ext cx="45720" cy="420624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931152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platform API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931152" y="4718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₹29–49 per API call. 50,000 workers/month × ₹39 = ₹19.5L MRR from one partner alone.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bureau model — employer data creates the moat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4864" cy="841248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12064" y="1554480"/>
            <a:ext cx="310896" cy="310896"/>
          </a:xfrm>
          <a:prstGeom prst="ellipse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1206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3898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agencies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645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TeamLease, Quess, Randstad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38988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first: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34640" y="1572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query volume. Burned by bad placements. Become resellers under rev-share model.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15000" y="1408176"/>
            <a:ext cx="0" cy="621792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52160" y="13898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1572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Rev-share partnership — 25% of every query. White-label option.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8412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2231136"/>
            <a:ext cx="54864" cy="841248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12064" y="2487168"/>
            <a:ext cx="310896" cy="310896"/>
          </a:xfrm>
          <a:prstGeom prst="ellipse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3225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enterprise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578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NBFCs, insurers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4640" y="23225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first: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34640" y="25054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SEBI/RBI fit-and-proper mandates already exist. KNONE is the cheapest compliant mechanism.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15000" y="2340864"/>
            <a:ext cx="0" cy="621792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852160" y="23225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0" y="250545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hook. 3-month free trial. Reference sell: first bank → all banks.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163824"/>
            <a:ext cx="8412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3163824"/>
            <a:ext cx="54864" cy="841248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12064" y="3419856"/>
            <a:ext cx="310896" cy="310896"/>
          </a:xfrm>
          <a:prstGeom prst="ellipse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12064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3255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 HR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35112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 manufacturing, FMCG 500+ headcount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34640" y="325526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first: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34640" y="343814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BGV spend. ATS integration creates switching cost. Low churn.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15000" y="3273552"/>
            <a:ext cx="0" cy="621792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852160" y="3255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52160" y="34381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partnership (Darwinbox, Keka). API-first. Enterprise contract.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8412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54864" cy="841248"/>
          </a:xfrm>
          <a:prstGeom prst="rect">
            <a:avLst/>
          </a:prstGeom>
          <a:solidFill>
            <a:srgbClr val="B8941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12064" y="4352544"/>
            <a:ext cx="310896" cy="310896"/>
          </a:xfrm>
          <a:prstGeom prst="ellipse">
            <a:avLst/>
          </a:prstGeom>
          <a:solidFill>
            <a:srgbClr val="B8941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12064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0120" y="41879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self-serve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0120" y="44439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63M+ businesses in India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34640" y="41879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first: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34640" y="43708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BGV budget. One bad hire already cost them. ₹799 per report is accessible.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715000" y="4206240"/>
            <a:ext cx="0" cy="621792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852160" y="4187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52160" y="43708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on 'background check India'. Self-serve. No sales touch.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Traction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path to market leadership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01168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011680" cy="347472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2984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093976"/>
            <a:ext cx="64008" cy="64008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0299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entity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414016"/>
            <a:ext cx="64008" cy="64008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3500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DPDP counsel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734056"/>
            <a:ext cx="64008" cy="64008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6700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UIDAI licence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64008" cy="64008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2990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CTO + 2 engineers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374136"/>
            <a:ext cx="64008" cy="64008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33101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3 design partners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694176"/>
            <a:ext cx="64008" cy="64008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6301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seed ₹1.5–2Cr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42032" y="1298448"/>
            <a:ext cx="201168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42032" y="1298448"/>
            <a:ext cx="2011680" cy="347472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679192" y="1298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13632" y="12984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79192" y="1719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beta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79192" y="2093976"/>
            <a:ext cx="64008" cy="64008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816352" y="20299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3-DB security architecture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79192" y="2414016"/>
            <a:ext cx="64008" cy="64008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816352" y="23500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hashing engine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79192" y="2734056"/>
            <a:ext cx="64008" cy="64008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816352" y="26700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ingestion pipeline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79192" y="3054096"/>
            <a:ext cx="64008" cy="64008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816352" y="2990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v1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79192" y="3374136"/>
            <a:ext cx="64008" cy="64008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816352" y="33101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portal MVP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79192" y="3694176"/>
            <a:ext cx="64008" cy="64008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816352" y="36301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PIDs seeded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18304" y="1298448"/>
            <a:ext cx="201168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18304" y="1298448"/>
            <a:ext cx="2011680" cy="347472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55464" y="1298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89904" y="12984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M9–12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55464" y="1719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55464" y="2093976"/>
            <a:ext cx="64008" cy="64008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992624" y="20299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push — ET, Mint, YourStory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55464" y="2414016"/>
            <a:ext cx="64008" cy="64008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92624" y="23500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self-portal live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55464" y="2734056"/>
            <a:ext cx="64008" cy="64008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992624" y="26700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Darwinbox + Keka ATS integrations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3054096"/>
            <a:ext cx="64008" cy="64008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92624" y="2990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REST API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55464" y="3374136"/>
            <a:ext cx="64008" cy="64008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992624" y="33101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enterprise sales hire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55464" y="3694176"/>
            <a:ext cx="64008" cy="64008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92624" y="36301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paying employers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94576" y="1298448"/>
            <a:ext cx="201168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894576" y="1298448"/>
            <a:ext cx="2011680" cy="347472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031736" y="1298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266176" y="12984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M13–24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31736" y="1719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031736" y="2093976"/>
            <a:ext cx="64008" cy="64008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168896" y="20299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archetype classifiers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031736" y="2414016"/>
            <a:ext cx="64008" cy="64008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168896" y="23500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analysis module live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031736" y="2734056"/>
            <a:ext cx="64008" cy="64008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168896" y="26700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platform API tier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031736" y="3054096"/>
            <a:ext cx="64008" cy="64008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168896" y="2990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screening vertical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031736" y="3374136"/>
            <a:ext cx="64008" cy="64008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7168896" y="33101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employers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031736" y="3694176"/>
            <a:ext cx="64008" cy="64008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168896" y="36301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₹25–40Cr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65760" y="4956048"/>
            <a:ext cx="8412480" cy="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365760" y="4919472"/>
            <a:ext cx="8412480" cy="91440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822960" y="4873752"/>
            <a:ext cx="182880" cy="182880"/>
          </a:xfrm>
          <a:prstGeom prst="ellipse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365760" y="4608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65760" y="47731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926080" y="4873752"/>
            <a:ext cx="182880" cy="182880"/>
          </a:xfrm>
          <a:prstGeom prst="ellipse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468880" y="4608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468880" y="47731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₹15L MRR · 50 employers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029200" y="4873752"/>
            <a:ext cx="182880" cy="182880"/>
          </a:xfrm>
          <a:prstGeom prst="ellipse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572000" y="4608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572000" y="47731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ready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7132320" y="4873752"/>
            <a:ext cx="182880" cy="182880"/>
          </a:xfrm>
          <a:prstGeom prst="ellipse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6675120" y="46085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24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675120" y="47731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₹1Cr+ MRR · 300 employers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Financial Projections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 — bureau network effects compound from year 2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61872"/>
          <a:ext cx="49377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931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(₹ Lakh)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577840" y="1261872"/>
            <a:ext cx="3200400" cy="32004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577840" y="1261872"/>
            <a:ext cx="795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373368" y="1261872"/>
            <a:ext cx="795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68896" y="1261872"/>
            <a:ext cx="795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64424" y="1261872"/>
            <a:ext cx="795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77840" y="1581912"/>
            <a:ext cx="3200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650992" y="16916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PIDs in database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373368" y="1673352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68896" y="1673352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964424" y="1673352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200,000+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77840" y="2057400"/>
            <a:ext cx="3200400" cy="475488"/>
          </a:xfrm>
          <a:prstGeom prst="rect">
            <a:avLst/>
          </a:prstGeom>
          <a:solidFill>
            <a:srgbClr val="FAFAF8"/>
          </a:solidFill>
          <a:ln w="381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650992" y="21671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employers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373368" y="2148840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168896" y="2148840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64424" y="2148840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77840" y="2532888"/>
            <a:ext cx="3200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650992" y="26426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373368" y="262432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168896" y="262432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964424" y="262432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₹400L+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577840" y="3008376"/>
            <a:ext cx="3200400" cy="475488"/>
          </a:xfrm>
          <a:prstGeom prst="rect">
            <a:avLst/>
          </a:prstGeom>
          <a:solidFill>
            <a:srgbClr val="FAFAF8"/>
          </a:solidFill>
          <a:ln w="381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650992" y="31181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queries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373368" y="3099816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168896" y="3099816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964424" y="3099816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100,000+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577840" y="3483864"/>
            <a:ext cx="3200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650992" y="35935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373368" y="3575304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168896" y="3575304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964424" y="3575304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65760" y="4160520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9436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₹1.5–2Cr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94360" y="4553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raise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28600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₹20–34L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2286000" y="4553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burn (Yr 1)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97764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to ₹15L MRR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3977640" y="4553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66928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₹25–40Cr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669280" y="4553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target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60920" y="4279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70–75%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7360920" y="4553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(steady state)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Use of Funds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₹1.5–2Cr seed · 18 months to ₹15L MRR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61872"/>
          <a:ext cx="3657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251960" y="1298448"/>
            <a:ext cx="45720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251960" y="1298448"/>
            <a:ext cx="54864" cy="676656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434840" y="1371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34840" y="15910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 ·  ₹87–116L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72200" y="138988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+ 2 backend + 1 frontend + 1 data engineer. 12-month comp. Biggest cost, highest ROI — this team builds the moat.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08192" y="1371600"/>
            <a:ext cx="0" cy="530352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251960" y="2066544"/>
            <a:ext cx="45720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251960" y="2066544"/>
            <a:ext cx="54864" cy="676656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434840" y="21396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34840" y="23591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 ·  ₹27–36L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72200" y="215798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counsel (DPDP), UIDAI AUA application, signal submission agreements, first DPDP audit, company secretary.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08192" y="2139696"/>
            <a:ext cx="0" cy="530352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251960" y="2834640"/>
            <a:ext cx="45720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251960" y="2834640"/>
            <a:ext cx="54864" cy="676656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434840" y="2907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434840" y="31272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 ·  ₹18–24L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172200" y="292608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3-DB topology, CloudHSM (₹1.2L/month), security pen test (CREST), Datadog, first 12 months cloud costs.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108192" y="2907792"/>
            <a:ext cx="0" cy="530352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251960" y="3602736"/>
            <a:ext cx="45720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251960" y="3602736"/>
            <a:ext cx="54864" cy="676656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434840" y="36758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design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434840" y="38953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 ·  ₹12–16L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172200" y="3694176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identity, website, PR launch, LinkedIn ads targeting CHRO persona, conference presence.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108192" y="3675888"/>
            <a:ext cx="0" cy="530352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251960" y="4370832"/>
            <a:ext cx="45720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251960" y="4370832"/>
            <a:ext cx="54864" cy="676656"/>
          </a:xfrm>
          <a:prstGeom prst="rect">
            <a:avLst/>
          </a:prstGeom>
          <a:solidFill>
            <a:srgbClr val="8A8A9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434840" y="44439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434840" y="4663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 ·  ₹6–8L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172200" y="446227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office, accounting, insurance (cyber liability), recruitment, miscellaneous.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108192" y="4443984"/>
            <a:ext cx="0" cy="530352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548640" y="46451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is deployed in order of dependency: legal first (3-month UIDAI lead time), engineering second, GTM only after MVP. Lean burn to first revenue.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building India's employment risk infrastructure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01168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51560" y="1463040"/>
            <a:ext cx="621792" cy="621792"/>
          </a:xfrm>
          <a:prstGeom prst="ellipse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04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· GTM · Regulatory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1463040" cy="0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706624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entrepreneur with deep networks in BFSI and HR-tech. Understands both the compliance problem and the employer buyer intimately. Led 2+ ventures to meaningful scale.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3858768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F2DDD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38587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model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4096512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4096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4334256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4334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navigation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42032" y="1298448"/>
            <a:ext cx="201168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27832" y="1463040"/>
            <a:ext cx="621792" cy="621792"/>
          </a:xfrm>
          <a:prstGeom prst="ellipse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27832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79192" y="2148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79192" y="2404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architect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16352" y="2651760"/>
            <a:ext cx="1463040" cy="0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679192" y="2706624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building regulated-sector financial technology. Led security architecture at an Indian NBFC. Expert in Argon2id, HSM, and multi-tier database security.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79192" y="3858768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F2DDD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679192" y="38587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/ HSM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79192" y="4096512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679192" y="4096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tech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79192" y="4334256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679192" y="4334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systems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18304" y="1298448"/>
            <a:ext cx="201168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04104" y="1463040"/>
            <a:ext cx="621792" cy="621792"/>
          </a:xfrm>
          <a:prstGeom prst="ellipse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04104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55464" y="2148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Counsel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55464" y="2404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· UIDAI · Contracts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92624" y="2651760"/>
            <a:ext cx="1463040" cy="0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55464" y="2706624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data protection lawyer. Author of signal submission agreements and employer DPA framework. Expert in DPDP Act 2023 and personal data fiduciary obligations.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55464" y="3858768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F2DDD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55464" y="38587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55464" y="4096512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55464" y="4096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UIDAI AUA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55464" y="4334256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55464" y="4334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law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94576" y="1298448"/>
            <a:ext cx="201168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580376" y="1463040"/>
            <a:ext cx="621792" cy="621792"/>
          </a:xfrm>
          <a:prstGeom prst="ellipse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580376" y="146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31736" y="2148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Data Engineer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031736" y="2404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· Archetypes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168896" y="2651760"/>
            <a:ext cx="1463040" cy="0"/>
          </a:xfrm>
          <a:prstGeom prst="line">
            <a:avLst/>
          </a:prstGeom>
          <a:noFill/>
          <a:ln w="6350">
            <a:solidFill>
              <a:srgbClr val="D8D5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031736" y="2706624"/>
            <a:ext cx="17373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risk scoring models for an Indian lending fintech. Expert in time-decay functions, XGBoost classifiers, and MLflow model versioning in production.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031736" y="3858768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F2DDD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031736" y="38587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031736" y="4096512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031736" y="4096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031736" y="4334256"/>
            <a:ext cx="1737360" cy="182880"/>
          </a:xfrm>
          <a:prstGeom prst="roundRect">
            <a:avLst>
              <a:gd name="adj" fmla="val 15000"/>
            </a:avLst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031736" y="4334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4956048"/>
            <a:ext cx="841248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365760" y="4919472"/>
            <a:ext cx="8412480" cy="91440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forces have converged to make this the perfect moment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14800" cy="54864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481328"/>
            <a:ext cx="384048" cy="384048"/>
          </a:xfrm>
          <a:prstGeom prst="ellipse">
            <a:avLst/>
          </a:prstGeom>
          <a:solidFill>
            <a:srgbClr val="F2DDD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46304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— now in force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865376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notified November 2025. Fines up to ₹250Cr for data mishandling. Every employer now needs a compliant, auditable pre-employment process. KNONE is that process.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₹250Cr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22585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fine per violation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54880" y="1298448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54880" y="1298448"/>
            <a:ext cx="4114800" cy="54864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919472" y="1481328"/>
            <a:ext cx="384048" cy="384048"/>
          </a:xfrm>
          <a:prstGeom prst="ellipse">
            <a:avLst/>
          </a:prstGeom>
          <a:solidFill>
            <a:srgbClr val="D6E4F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19472" y="146304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mandated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9472" y="1865376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SEBI, RBI, IRDAI require fit-and-proper checks for 400+ regulated entities. No standardised mechanism exists. KNONE becomes the cheapest compliant solution.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0" y="1828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2400" y="22585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entities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3218688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218688"/>
            <a:ext cx="4114800" cy="54864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30352" y="3401568"/>
            <a:ext cx="384048" cy="384048"/>
          </a:xfrm>
          <a:prstGeom prst="ellipse">
            <a:avLst/>
          </a:prstGeom>
          <a:solidFill>
            <a:srgbClr val="D9ED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30352" y="338328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383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 framework live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3785616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RBI's AA framework enables consent-based bank statement analysis. KNONE is the first employment platform to apply AA data to professional conduct scoring.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37490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83280" y="41788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AA-linked accounts in India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54880" y="3218688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3218688"/>
            <a:ext cx="4114800" cy="54864"/>
          </a:xfrm>
          <a:prstGeom prst="rect">
            <a:avLst/>
          </a:prstGeom>
          <a:solidFill>
            <a:srgbClr val="B8941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919472" y="3401568"/>
            <a:ext cx="384048" cy="384048"/>
          </a:xfrm>
          <a:prstGeom prst="ellipse">
            <a:avLst/>
          </a:prstGeom>
          <a:solidFill>
            <a:srgbClr val="F5EED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19472" y="338328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383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BGV consolidation underway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9472" y="3785616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Advantage acquired Sterling for $2.2B in Oct 2024. The BGV oligopoly is forming globally. India has no bureau-model incumbent. The window to build one is open — but not forever.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72400" y="37490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B89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$2.2B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772400" y="41788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acquisition signal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24126" y="4829589"/>
            <a:ext cx="841248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IDfy — India's most technologically sophisticated BGV player — is already profitable and expanding internationally. If they add a shared adverse signal network and scoring model, they become KNONE. Speed of launch is the primary strategic priority.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731520"/>
            <a:ext cx="4114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5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4864" cy="3840480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₹1.5–2Cr seed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2130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₹1.5–2Cr pre-seed / seed round. CCPS structure. 15–20% dilution.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624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do with 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28346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 + UIDAI filing (M1) · CTO + 2 engineers hired (M2) · MVP built + pen tested (M7) · 3 design partners live + first revenue (M8)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328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offering investors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5387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floor entry into India's first employment risk bureau. Bureau models are winner-take-most. Once the database network effect kicks in at 100,000+ PIDs, no competitor can replicate it.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4032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trigger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24281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₹15L MRR · 50 paying employers · 10,000+ PIDs. Target: month 12. Series A at ₹25–40Cr on these metrics.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4645152"/>
            <a:ext cx="5029200" cy="0"/>
          </a:xfrm>
          <a:prstGeom prst="line">
            <a:avLst/>
          </a:prstGeom>
          <a:noFill/>
          <a:ln w="6350">
            <a:solidFill>
              <a:srgbClr val="2A2A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13232" y="4754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founder@knone.in  ·  knone.in  ·  Confidential — May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0A0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 </a:t>
            </a: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Appendix — Scoring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KNONE scoring formula — complete technical specification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11480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weights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1755648"/>
            <a:ext cx="2286000" cy="64008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691640" y="1755648"/>
            <a:ext cx="2011680" cy="64008"/>
          </a:xfrm>
          <a:prstGeom prst="rect">
            <a:avLst/>
          </a:prstGeom>
          <a:solidFill>
            <a:srgbClr val="C8431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050792" y="16916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4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396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91640" y="2203704"/>
            <a:ext cx="2286000" cy="64008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691640" y="2203704"/>
            <a:ext cx="1828800" cy="64008"/>
          </a:xfrm>
          <a:prstGeom prst="rect">
            <a:avLst/>
          </a:prstGeom>
          <a:solidFill>
            <a:srgbClr val="A32D2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50792" y="21396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587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2651760"/>
            <a:ext cx="2286000" cy="64008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691640" y="2651760"/>
            <a:ext cx="1645920" cy="64008"/>
          </a:xfrm>
          <a:prstGeom prst="rect">
            <a:avLst/>
          </a:prstGeom>
          <a:solidFill>
            <a:srgbClr val="D4870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050792" y="25877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0358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91640" y="3099816"/>
            <a:ext cx="2286000" cy="64008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691640" y="3099816"/>
            <a:ext cx="1463040" cy="64008"/>
          </a:xfrm>
          <a:prstGeom prst="rect">
            <a:avLst/>
          </a:prstGeom>
          <a:solidFill>
            <a:srgbClr val="D4870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050792" y="303580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483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91640" y="3547872"/>
            <a:ext cx="2286000" cy="64008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691640" y="3547872"/>
            <a:ext cx="914400" cy="64008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050792" y="34838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931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91640" y="3995928"/>
            <a:ext cx="2286000" cy="64008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691640" y="3995928"/>
            <a:ext cx="731520" cy="64008"/>
          </a:xfrm>
          <a:prstGeom prst="rect">
            <a:avLst/>
          </a:prstGeom>
          <a:solidFill>
            <a:srgbClr val="1A4A8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050792" y="39319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379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Lifestyle*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91640" y="4443984"/>
            <a:ext cx="2286000" cy="64008"/>
          </a:xfrm>
          <a:prstGeom prst="rect">
            <a:avLst/>
          </a:prstGeom>
          <a:solidFill>
            <a:srgbClr val="ECEAE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691640" y="4443984"/>
            <a:ext cx="548640" cy="64008"/>
          </a:xfrm>
          <a:prstGeom prst="rect">
            <a:avLst/>
          </a:prstGeom>
          <a:solidFill>
            <a:srgbClr val="1A6B5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050792" y="43799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8006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*Excluded if no individual consent — 6% redistributed to integrity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63440" y="1207008"/>
            <a:ext cx="411480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4632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decay half-lives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1691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(unspent)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66560" y="1691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decay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20939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(spent)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66560" y="20939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years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2496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66560" y="2496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years (mirrors credit)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46320" y="2898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66560" y="2898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46320" y="3300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66560" y="33009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46320" y="3703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/ stability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766560" y="3703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46320" y="4105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766560" y="41056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46320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766560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year — fast decay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846320" y="4754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weight(t) = base × provenance_mult × exp(−ln2/half_life × age_years)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2330</Words>
  <Application>Microsoft Office PowerPoint</Application>
  <PresentationFormat>On-screen Show (16:9)</PresentationFormat>
  <Paragraphs>518</Paragraphs>
  <Slides>16</Slides>
  <Notes>16</Notes>
  <HiddenSlides>11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KNONE — India's Employment Risk Bureau</dc:title>
  <dc:subject>PptxGenJS Presentation</dc:subject>
  <dc:creator>KNONE</dc:creator>
  <cp:lastModifiedBy>Dnyanesh Pandit (IND)</cp:lastModifiedBy>
  <cp:revision>2</cp:revision>
  <dcterms:created xsi:type="dcterms:W3CDTF">2026-05-07T07:44:29Z</dcterms:created>
  <dcterms:modified xsi:type="dcterms:W3CDTF">2026-05-07T08:22:38Z</dcterms:modified>
</cp:coreProperties>
</file>