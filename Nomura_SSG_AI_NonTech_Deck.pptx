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0A8A8">
              <a:alpha val="12000"/>
            </a:srgbClr>
          </a:solidFill>
          <a:ln w="12700">
            <a:solidFill>
              <a:srgbClr val="00A8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2560320" cy="2560320"/>
          </a:xfrm>
          <a:prstGeom prst="ellipse">
            <a:avLst/>
          </a:prstGeom>
          <a:solidFill>
            <a:srgbClr val="F57C28">
              <a:alpha val="15000"/>
            </a:srgbClr>
          </a:solidFill>
          <a:ln w="12700">
            <a:solidFill>
              <a:srgbClr val="F57C28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4008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</a:rPr>
              <a:t>HOW AI WILL TRANSFORM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Settlement Operations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90A8"/>
                </a:solidFill>
              </a:rPr>
              <a:t>A plain-English guide for the team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3200400" cy="36576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Nomura SSG Operations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OTC &amp; FX Settlements — Proof of Concept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8"/>
                </a:solidFill>
              </a:rPr>
              <a:t>Powered by Agentic AI  ·  Built with Protiviti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What's happening today — every single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Emails arrive in all shapes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3347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Alleged claims come in from counterparties in different formats — emails, reports, SWIFT messages. Someone has to read every one and figure out what's being claimed.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Missing information, manual digging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63347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 out of 6 key data fields are often missing. The team then has to manually search multiple systems — settlement, front office, MO — to fill the gaps.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173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Same exceptions, every day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63347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same types of breaks keep happening. There's no system that learns from past resolutions, so the team solves the same puzzles over and over.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46360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210 people spend most of their day doing this manually — compare, match, investigate, respond. That's the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very smart assistant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A8"/>
                </a:solidFill>
              </a:rPr>
              <a:t>No code. No jargon. Here's the plain-English version.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solidFill>
            <a:srgbClr val="FFF8F4"/>
          </a:solidFill>
          <a:ln w="12700">
            <a:solidFill>
              <a:srgbClr val="F0C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28"/>
                </a:solidFill>
              </a:rPr>
              <a:t>👤  TODAY — Manual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1.  Email arrives — someone reads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2.  Figures out what's being claimed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3.  Searches 3–4 systems for matching trades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4.  Spots what's missing, asks MO for help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5.  Waits for reply, then drafts a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6.  Closes the case in ServiceNow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651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F0FAF7"/>
          </a:solidFill>
          <a:ln w="12700">
            <a:solidFill>
              <a:srgbClr val="A8DD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</a:rPr>
              <a:t>🤖  WITH AI — Automated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1.  AI reads the email — any format, instantly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2.  Understands context, not just keywords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3.  Searches all systems simultaneously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4.  Gives a confidence score: 90%+ = auto-route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5.  Asks a human only when it's genuinely unsure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6.  Logs everything — full audit trail, automatic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Follow a claim from the moment it arrives to the moment it's resolved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76352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38912" y="1691640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450592"/>
            <a:ext cx="1143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Email / Report Arrives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Comes in via email, SWIFT or report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82496" y="1691640"/>
            <a:ext cx="658368" cy="65836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8249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17904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17904" y="2450592"/>
            <a:ext cx="114300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63624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AI Reads &amp; Extracts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63624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Pulls out the key facts — no keyword tricks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0" y="169164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61488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61488" y="2450592"/>
            <a:ext cx="1143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7208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Checks Golden Sources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07208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Looks up GLOSS, OBI, FO systems simultaneously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69664" y="1691640"/>
            <a:ext cx="658368" cy="658368"/>
          </a:xfrm>
          <a:prstGeom prst="ellipse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9664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5072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05072" y="2450592"/>
            <a:ext cx="1143000" cy="54864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0792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Scores Confidence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50792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High (≥90%) = auto-proceed   Low = ask human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13248" y="1691640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13248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48656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48656" y="2450592"/>
            <a:ext cx="1143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4376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Human Reviews (if needed)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94376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Analyst sees a clean summary + proposal to approve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56832" y="1691640"/>
            <a:ext cx="658368" cy="6583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5683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92240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92240" y="2450592"/>
            <a:ext cx="1143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Response Sent / Case Closed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Email drafted, ServiceNow updated, full audit log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00416" y="169164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0041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35824" y="2450592"/>
            <a:ext cx="1143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735824" y="2450592"/>
            <a:ext cx="1143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81544" y="2523744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AI Learns from Each Case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81544" y="3236976"/>
            <a:ext cx="1051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Next time a similar case comes, AI already knows the answer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"Confidence Score" — The Key Idea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A8"/>
                </a:solidFill>
              </a:rPr>
              <a:t>This one concept decides whether AI handles it, or hands it to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1325880"/>
            <a:ext cx="292608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analyses the claim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46120" y="17922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A8"/>
                </a:solidFill>
              </a:rPr>
              <a:t>and gives a confidence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651760"/>
            <a:ext cx="3291840" cy="2148840"/>
          </a:xfrm>
          <a:prstGeom prst="rect">
            <a:avLst/>
          </a:prstGeom>
          <a:solidFill>
            <a:srgbClr val="F0FAF7"/>
          </a:solidFill>
          <a:ln w="12700">
            <a:solidFill>
              <a:srgbClr val="A8DD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651760"/>
            <a:ext cx="32918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7432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✅  90% or above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1480" y="3154680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AI proceeds automatically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Drafts the counter-response email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Routes for one-click human release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Logs everything in ServiceNow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2651760"/>
            <a:ext cx="3291840" cy="2148840"/>
          </a:xfrm>
          <a:prstGeom prst="rect">
            <a:avLst/>
          </a:prstGeom>
          <a:solidFill>
            <a:srgbClr val="FFF8F4"/>
          </a:solidFill>
          <a:ln w="12700">
            <a:solidFill>
              <a:srgbClr val="F0C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651760"/>
            <a:ext cx="3291840" cy="64008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7432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C28"/>
                </a:solidFill>
              </a:rPr>
              <a:t>⚠️  Below 90%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15000" y="3154680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Escalates to a human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Sends a smart broadcast to Middle Office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Captures MO's reply to train itself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Next time? It already knows the answer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08960" y="2103120"/>
            <a:ext cx="-1463040" cy="54864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103120"/>
            <a:ext cx="914400" cy="548640"/>
          </a:xfrm>
          <a:prstGeom prst="line">
            <a:avLst/>
          </a:prstGeom>
          <a:noFill/>
          <a:ln w="25400">
            <a:solidFill>
              <a:srgbClr val="F57C2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Types of Work AI Will Handle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These cover ~80% of everything our team does manually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234440"/>
            <a:ext cx="685800" cy="68580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2801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Compare &amp; Match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23744"/>
            <a:ext cx="1554480" cy="32004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165 → 85 people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90779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biggest one. AI compares trade details from counterparty emails against our own systems. It finds matches, spots differences, and explains why.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09728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097280"/>
            <a:ext cx="2011680" cy="64008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27248" y="1234440"/>
            <a:ext cx="685800" cy="685800"/>
          </a:xfrm>
          <a:prstGeom prst="ellipse">
            <a:avLst/>
          </a:prstGeom>
          <a:solidFill>
            <a:srgbClr val="F57C28">
              <a:alpha val="85000"/>
            </a:srgbClr>
          </a:solidFill>
          <a:ln w="12700">
            <a:solidFill>
              <a:srgbClr val="F57C2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28016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Alerts &amp; Escalation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697480" y="2523744"/>
            <a:ext cx="1554480" cy="320040"/>
          </a:xfrm>
          <a:prstGeom prst="rect">
            <a:avLst/>
          </a:prstGeom>
          <a:solidFill>
            <a:srgbClr val="F57C28">
              <a:alpha val="20000"/>
            </a:srgbClr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9748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16 → 5 people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560320" y="290779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monitors for breaches and exceptions. Instead of someone watching dashboards all day, AI raises the right alert to the right person instantly.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17720" y="109728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7720" y="1097280"/>
            <a:ext cx="20116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76088" y="1234440"/>
            <a:ext cx="685800" cy="685800"/>
          </a:xfrm>
          <a:prstGeom prst="ellipse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28016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Optimal Refinement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846320" y="2523744"/>
            <a:ext cx="1554480" cy="32004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8 → 3 people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09160" y="290779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When a match fails, AI figures out the most likely fix — pulling additional data, suggesting corrections, and proposing next steps.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766560" y="109728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66560" y="109728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24928" y="1234440"/>
            <a:ext cx="685800" cy="68580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280160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19933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Reporting &amp; MIS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995160" y="2523744"/>
            <a:ext cx="1554480" cy="32004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99516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22 → 6 people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858000" y="290779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generates KPI reports, exception summaries, and management updates automatically — the kind that take hours of manual data wrangling today.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 — In Plain English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A8"/>
                </a:solidFill>
              </a:rPr>
              <a:t>3 layers. Each does one job. Together they make it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44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</a:rPr>
              <a:t>LAYER 1 — THE DATA SOURCES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71600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Where the information lives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19019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Think of this as the filing cabinet. It's where trade data, golden source records, emails, SWIFT messages, and reports are stored. The AI reads from here.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578608"/>
            <a:ext cx="8412480" cy="1143000"/>
          </a:xfrm>
          <a:prstGeom prst="rect">
            <a:avLst/>
          </a:prstGeom>
          <a:solidFill>
            <a:srgbClr val="F0FAF7"/>
          </a:solidFill>
          <a:ln w="12700">
            <a:solidFill>
              <a:srgbClr val="A8DD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578608"/>
            <a:ext cx="201168" cy="1143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6148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A8"/>
                </a:solidFill>
              </a:rPr>
              <a:t>LAYER 2 — THE AI ENGINE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7160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Where the thinking happens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71600" y="320954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is the brain. Multiple AI agents — each with a specific job — read, compare, decide, and learn. They talk to the data layer and send results up to the workflow layer.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877056"/>
            <a:ext cx="8412480" cy="1051560"/>
          </a:xfrm>
          <a:prstGeom prst="rect">
            <a:avLst/>
          </a:prstGeom>
          <a:solidFill>
            <a:srgbClr val="FFF8F4"/>
          </a:solidFill>
          <a:ln w="12700">
            <a:solidFill>
              <a:srgbClr val="F0C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877056"/>
            <a:ext cx="201168" cy="1051560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233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9410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C28"/>
                </a:solidFill>
              </a:rPr>
              <a:t>LAYER 3 — THE WORKFLOW (ServiceNow)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71600" y="42611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Where humans interact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0" y="44988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dashboard the team already uses (ServiceNow NEWS). AI results surface here as tasks to approve, cases to review, and alerts to action. Nothing new to learn.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— What We're Using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You don't need to know this in detail — but here's the picture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685800" cy="1737360"/>
          </a:xfrm>
          <a:prstGeom prst="rect">
            <a:avLst/>
          </a:prstGeom>
          <a:solidFill>
            <a:srgbClr val="5C6BC0">
              <a:alpha val="88000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Anthropic Claude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(Chinou)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9848" y="184708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AI brain — reads, reasons, and writes responses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097280"/>
            <a:ext cx="685800" cy="1737360"/>
          </a:xfrm>
          <a:prstGeom prst="rect">
            <a:avLst/>
          </a:prstGeom>
          <a:solidFill>
            <a:srgbClr val="00A8A8">
              <a:alpha val="88000"/>
            </a:srgbClr>
          </a:solidFill>
          <a:ln w="12700">
            <a:solidFill>
              <a:srgbClr val="00A8A8">
                <a:alpha val="2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LangGraph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04488" y="184708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Manages the flow between AI agents, step by step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8932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9320" y="1097280"/>
            <a:ext cx="685800" cy="1737360"/>
          </a:xfrm>
          <a:prstGeom prst="rect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39128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Snowflake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GLOSS / OBI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739128" y="184708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Where trade data lives — the AI reads from here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017520"/>
            <a:ext cx="685800" cy="1737360"/>
          </a:xfrm>
          <a:prstGeom prst="rect">
            <a:avLst/>
          </a:prstGeom>
          <a:solidFill>
            <a:srgbClr val="27AE60">
              <a:alpha val="88000"/>
            </a:srgbClr>
          </a:solidFill>
          <a:ln w="12700">
            <a:solidFill>
              <a:srgbClr val="27AE60">
                <a:alpha val="2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566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9848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HITL Web App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(Custom UI)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69848" y="37673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screen where your team approves or rejects AI proposals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5468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54680" y="3017520"/>
            <a:ext cx="685800" cy="1737360"/>
          </a:xfrm>
          <a:prstGeom prst="rect">
            <a:avLst/>
          </a:prstGeom>
          <a:solidFill>
            <a:srgbClr val="F57C28">
              <a:alpha val="88000"/>
            </a:srgbClr>
          </a:solidFill>
          <a:ln w="12700">
            <a:solidFill>
              <a:srgbClr val="F57C28">
                <a:alpha val="2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35661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ServiceNow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(NEWS)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904488" y="37673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Your existing workflow tool — AI plugs straight 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8932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989320" y="3017520"/>
            <a:ext cx="685800" cy="1737360"/>
          </a:xfrm>
          <a:prstGeom prst="rect">
            <a:avLst/>
          </a:prstGeom>
          <a:solidFill>
            <a:srgbClr val="EC4899">
              <a:alpha val="88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35661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39128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LangSmith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Security Layer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739128" y="37673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Watches the AI at all times. Full audit trail. PII protected.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Still Come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A8"/>
                </a:solidFill>
              </a:rPr>
              <a:t>AI handles the routine. Humans handle the judgement.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3192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A8"/>
                </a:solidFill>
              </a:rPr>
              <a:t>AI Handles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566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Reading and extracting data from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Searching systems and matching trades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Scoring confidence and routing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Drafting counter-response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Logging every action in NEWS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Learning from every case it sees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1280160"/>
            <a:ext cx="3931920" cy="3566160"/>
          </a:xfrm>
          <a:prstGeom prst="rect">
            <a:avLst/>
          </a:prstGeom>
          <a:solidFill>
            <a:srgbClr val="FFF8F4"/>
          </a:solidFill>
          <a:ln w="12700">
            <a:solidFill>
              <a:srgbClr val="F0C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7C28"/>
                </a:solidFill>
              </a:rPr>
              <a:t>You Handle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377440"/>
            <a:ext cx="3566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Low-confidence cases that need your expertise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Approving AI-drafted responses before they send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Defining the rules AI works within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Overriding AI decisions — you always can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Spotting new patterns the AI hasn't seen yet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All relationship and judgement-based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— 12 Weeks to Go-Live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8"/>
                </a:solidFill>
              </a:rPr>
              <a:t>Four clear phases. You'll see results in weeks, not months.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Weeks 1–3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64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Discover &amp; Set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42316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Walk through the OTC process with your SMEs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Map data sources and system 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Define what 'good' looks like for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5029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Weeks 3–7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57276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664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A8"/>
                </a:solidFill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A8"/>
                </a:solidFill>
              </a:rPr>
              <a:t>Build &amp; 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42316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AI agents built and tested on sample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Human approval screen built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Iterative: we test, refine, test again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2011680" cy="502920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Weeks 7–10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57276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664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7C28"/>
                </a:solidFill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7C28"/>
                </a:solidFill>
              </a:rPr>
              <a:t>Connect &amp; Prove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42316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Connect to ServiceNow and real Nomura systems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End-to-end test with real team members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Fix what doesn't feel right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20116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Weeks 10–12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7276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664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Go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42316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Full launch in Nomura environment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Team training and handover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Ongoing support and monitoring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31720" y="1298448"/>
            <a:ext cx="137160" cy="0"/>
          </a:xfrm>
          <a:prstGeom prst="line">
            <a:avLst/>
          </a:prstGeom>
          <a:noFill/>
          <a:ln w="19050">
            <a:solidFill>
              <a:srgbClr val="8090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298448"/>
            <a:ext cx="137160" cy="0"/>
          </a:xfrm>
          <a:prstGeom prst="line">
            <a:avLst/>
          </a:prstGeom>
          <a:noFill/>
          <a:ln w="19050">
            <a:solidFill>
              <a:srgbClr val="8090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1298448"/>
            <a:ext cx="137160" cy="0"/>
          </a:xfrm>
          <a:prstGeom prst="line">
            <a:avLst/>
          </a:prstGeom>
          <a:noFill/>
          <a:ln w="19050">
            <a:solidFill>
              <a:srgbClr val="809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Both tracks run in parallel: Protiviti builds fast on test data, Nomura environment built simultaneously — no waiting.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A8"/>
                </a:solidFill>
              </a:rPr>
              <a:t>Conservative targets. Real outcomes.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A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Reduction in manual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processing workload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0A8"/>
                </a:solidFill>
              </a:rPr>
              <a:t>Conservative target over 2–3 years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201168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7C2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34440"/>
            <a:ext cx="2011680" cy="73152"/>
          </a:xfrm>
          <a:prstGeom prst="rect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7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56032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 tasks today covered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Compare &amp; Match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0A8"/>
                </a:solidFill>
              </a:rPr>
              <a:t>The single biggest area of relief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201168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34440"/>
            <a:ext cx="20116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70916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Confidence threshold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AI auto-routes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0A8"/>
                </a:solidFill>
              </a:rPr>
              <a:t>Your team always has oversight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201168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34440"/>
            <a:ext cx="201168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wks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8580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 a working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 your environment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0A8"/>
                </a:solidFill>
              </a:rPr>
              <a:t>Weeks to proof — not months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A8"/>
                </a:solidFill>
              </a:rPr>
              <a:t>The team shifts from doing the work — to overseeing intelligent systems that do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A8A8">
              <a:alpha val="10000"/>
            </a:srgbClr>
          </a:solidFill>
          <a:ln w="12700">
            <a:solidFill>
              <a:srgbClr val="00A8A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57C28">
              <a:alpha val="12000"/>
            </a:srgbClr>
          </a:solidFill>
          <a:ln w="12700">
            <a:solidFill>
              <a:srgbClr val="F57C2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A8"/>
                </a:solidFill>
              </a:rPr>
              <a:t>Three things we need from your team to get started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Confirm the OTC Confirmations workflow as our POC starting point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F57C28"/>
          </a:solidFill>
          <a:ln w="12700">
            <a:solidFill>
              <a:srgbClr val="F57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Nominate SMEs who can walk us through the process in Week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Kick off IT access to data sources (GLOSS API, emails, ServiceNow)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A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4164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A8"/>
                </a:solidFill>
              </a:rPr>
              <a:t>Contact Protiviti: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Dheeraj Khatri  dheeraj.khatri@protivitiglobal.in  +91 8237147490  |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Apurva Shrivastava  apurva.shrivastava@protivitiglobal.in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2026-05-11T08:13:42Z</dcterms:created>
  <dcterms:modified xsi:type="dcterms:W3CDTF">2026-05-11T08:13:42Z</dcterms:modified>
</cp:coreProperties>
</file>